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93" r:id="rId12"/>
    <p:sldId id="270" r:id="rId13"/>
    <p:sldId id="287" r:id="rId14"/>
    <p:sldId id="294" r:id="rId15"/>
    <p:sldId id="268" r:id="rId16"/>
    <p:sldId id="289" r:id="rId17"/>
    <p:sldId id="290" r:id="rId18"/>
    <p:sldId id="291" r:id="rId19"/>
    <p:sldId id="266" r:id="rId20"/>
    <p:sldId id="272" r:id="rId21"/>
    <p:sldId id="295" r:id="rId22"/>
    <p:sldId id="29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7" autoAdjust="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82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MASTERCLASS DE GIT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Control de versiones profesional</a:t>
            </a:r>
          </a:p>
          <a:p>
            <a:r>
              <a:t>Flujos seguros y avanzados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Qué veremos hoy (sin memorizar, con modelo mental)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Fundamentos: commits, ramas, HEAD, working tree y staging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Sincronización: remotos, fetch vs pull, tracking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Integración: merge vs rebase (con diagramas)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Flujo seguro recomendado: ramas + Pull Request a main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Flujo avanzado: colaborar entre ramas sin depender de main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Errores comunes y cómo recuperarse (bonus)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Fundamentos de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Qué es Git y cómo piensa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Git guarda snapshots (commits), no “diferencias sueltas”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Un commit tiene: estado + hash + referencia(s) al/los padre(s)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Una rama es un puntero al último commit (no una copia)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HEAD indica dónde estás trabajando ahora mismo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Las 4 zonas de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Tu modelo mental para no perderte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pic>
        <p:nvPicPr>
          <p:cNvPr id="6" name="Picture 5" descr="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498080" cy="23534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1528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dirty="0">
                <a:solidFill>
                  <a:srgbClr val="0F172A"/>
                </a:solidFill>
              </a:rPr>
              <a:t>Working directory: lo </a:t>
            </a:r>
            <a:r>
              <a:rPr sz="1600" dirty="0" err="1">
                <a:solidFill>
                  <a:srgbClr val="0F172A"/>
                </a:solidFill>
              </a:rPr>
              <a:t>que</a:t>
            </a:r>
            <a:r>
              <a:rPr sz="1600" dirty="0">
                <a:solidFill>
                  <a:srgbClr val="0F172A"/>
                </a:solidFill>
              </a:rPr>
              <a:t> </a:t>
            </a:r>
            <a:r>
              <a:rPr sz="1600" dirty="0" err="1">
                <a:solidFill>
                  <a:srgbClr val="0F172A"/>
                </a:solidFill>
              </a:rPr>
              <a:t>editas</a:t>
            </a:r>
            <a:endParaRPr sz="16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0F172A"/>
                </a:solidFill>
              </a:rPr>
              <a:t>Staging area: lo </a:t>
            </a:r>
            <a:r>
              <a:rPr sz="1600" dirty="0" err="1">
                <a:solidFill>
                  <a:srgbClr val="0F172A"/>
                </a:solidFill>
              </a:rPr>
              <a:t>que</a:t>
            </a:r>
            <a:r>
              <a:rPr sz="1600" dirty="0">
                <a:solidFill>
                  <a:srgbClr val="0F172A"/>
                </a:solidFill>
              </a:rPr>
              <a:t> </a:t>
            </a:r>
            <a:r>
              <a:rPr sz="1600" dirty="0" err="1">
                <a:solidFill>
                  <a:srgbClr val="0F172A"/>
                </a:solidFill>
              </a:rPr>
              <a:t>irá</a:t>
            </a:r>
            <a:r>
              <a:rPr sz="1600" dirty="0">
                <a:solidFill>
                  <a:srgbClr val="0F172A"/>
                </a:solidFill>
              </a:rPr>
              <a:t> al commit (git add)</a:t>
            </a: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0F172A"/>
                </a:solidFill>
              </a:rPr>
              <a:t>Local repo: </a:t>
            </a:r>
            <a:r>
              <a:rPr sz="1600" dirty="0" err="1">
                <a:solidFill>
                  <a:srgbClr val="0F172A"/>
                </a:solidFill>
              </a:rPr>
              <a:t>historial</a:t>
            </a:r>
            <a:r>
              <a:rPr sz="1600" dirty="0">
                <a:solidFill>
                  <a:srgbClr val="0F172A"/>
                </a:solidFill>
              </a:rPr>
              <a:t> de commits</a:t>
            </a:r>
          </a:p>
          <a:p>
            <a:pPr>
              <a:spcAft>
                <a:spcPts val="600"/>
              </a:spcAft>
            </a:pPr>
            <a:r>
              <a:rPr sz="1600" dirty="0">
                <a:solidFill>
                  <a:srgbClr val="0F172A"/>
                </a:solidFill>
              </a:rPr>
              <a:t>Remote (origin): </a:t>
            </a:r>
            <a:r>
              <a:rPr sz="1600" dirty="0" err="1">
                <a:solidFill>
                  <a:srgbClr val="0F172A"/>
                </a:solidFill>
              </a:rPr>
              <a:t>compartir</a:t>
            </a:r>
            <a:r>
              <a:rPr sz="1600" dirty="0">
                <a:solidFill>
                  <a:srgbClr val="0F172A"/>
                </a:solidFill>
              </a:rPr>
              <a:t> y </a:t>
            </a:r>
            <a:r>
              <a:rPr sz="1600" dirty="0" err="1">
                <a:solidFill>
                  <a:srgbClr val="0F172A"/>
                </a:solidFill>
              </a:rPr>
              <a:t>colaborar</a:t>
            </a:r>
            <a:endParaRPr sz="1600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Estados de un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Untracked · Modified · Staged · Committed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Untracked: Git no lo sigue aún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Modified: cambió en tu working directory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Staged: listo para el próximo commit (git add)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Committed: ya forma parte del historial</a:t>
            </a:r>
          </a:p>
        </p:txBody>
      </p:sp>
      <p:pic>
        <p:nvPicPr>
          <p:cNvPr id="7" name="Picture 6" descr="basic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443238"/>
            <a:ext cx="5486400" cy="1614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Remotos y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origin/main no es tu main: es una referencia remota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origin = </a:t>
            </a:r>
            <a:r>
              <a:rPr sz="1800" dirty="0" err="1">
                <a:solidFill>
                  <a:srgbClr val="0F172A"/>
                </a:solidFill>
              </a:rPr>
              <a:t>remoto</a:t>
            </a:r>
            <a:r>
              <a:rPr sz="1800" dirty="0">
                <a:solidFill>
                  <a:srgbClr val="0F172A"/>
                </a:solidFill>
              </a:rPr>
              <a:t> (GitHub). origin/main = </a:t>
            </a:r>
            <a:r>
              <a:rPr sz="1800" dirty="0" err="1">
                <a:solidFill>
                  <a:srgbClr val="0F172A"/>
                </a:solidFill>
              </a:rPr>
              <a:t>puntero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remoto</a:t>
            </a:r>
            <a:r>
              <a:rPr sz="1800" dirty="0">
                <a:solidFill>
                  <a:srgbClr val="0F172A"/>
                </a:solidFill>
              </a:rPr>
              <a:t> (solo </a:t>
            </a:r>
            <a:r>
              <a:rPr sz="1800" dirty="0" err="1">
                <a:solidFill>
                  <a:srgbClr val="0F172A"/>
                </a:solidFill>
              </a:rPr>
              <a:t>lectura</a:t>
            </a:r>
            <a:r>
              <a:rPr sz="1800" dirty="0">
                <a:solidFill>
                  <a:srgbClr val="0F172A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Tu </a:t>
            </a:r>
            <a:r>
              <a:rPr sz="1800" dirty="0" err="1">
                <a:solidFill>
                  <a:srgbClr val="0F172A"/>
                </a:solidFill>
              </a:rPr>
              <a:t>rama</a:t>
            </a:r>
            <a:r>
              <a:rPr sz="1800" dirty="0">
                <a:solidFill>
                  <a:srgbClr val="0F172A"/>
                </a:solidFill>
              </a:rPr>
              <a:t> local main es un </a:t>
            </a:r>
            <a:r>
              <a:rPr sz="1800" dirty="0" err="1">
                <a:solidFill>
                  <a:srgbClr val="0F172A"/>
                </a:solidFill>
              </a:rPr>
              <a:t>puntero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distinto</a:t>
            </a:r>
            <a:endParaRPr sz="18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</a:rPr>
              <a:t>git fetch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actualiza</a:t>
            </a:r>
            <a:r>
              <a:rPr sz="1800" dirty="0">
                <a:solidFill>
                  <a:srgbClr val="0F172A"/>
                </a:solidFill>
              </a:rPr>
              <a:t> origin/* sin </a:t>
            </a:r>
            <a:r>
              <a:rPr sz="1800" dirty="0" err="1">
                <a:solidFill>
                  <a:srgbClr val="0F172A"/>
                </a:solidFill>
              </a:rPr>
              <a:t>tocar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tu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código</a:t>
            </a:r>
            <a:endParaRPr sz="18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F172A"/>
                </a:solidFill>
              </a:rPr>
              <a:t>git pull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lang="es-ES" dirty="0">
                <a:solidFill>
                  <a:srgbClr val="0F172A"/>
                </a:solidFill>
              </a:rPr>
              <a:t>es igual </a:t>
            </a:r>
            <a:r>
              <a:rPr sz="1800" dirty="0">
                <a:solidFill>
                  <a:srgbClr val="0F172A"/>
                </a:solidFill>
              </a:rPr>
              <a:t>fetch + merge (</a:t>
            </a:r>
            <a:r>
              <a:rPr sz="1800" dirty="0" err="1">
                <a:solidFill>
                  <a:srgbClr val="0F172A"/>
                </a:solidFill>
              </a:rPr>
              <a:t>trae</a:t>
            </a:r>
            <a:r>
              <a:rPr sz="1800" dirty="0">
                <a:solidFill>
                  <a:srgbClr val="0F172A"/>
                </a:solidFill>
              </a:rPr>
              <a:t> y </a:t>
            </a:r>
            <a:r>
              <a:rPr sz="1800" dirty="0" err="1">
                <a:solidFill>
                  <a:srgbClr val="0F172A"/>
                </a:solidFill>
              </a:rPr>
              <a:t>aplica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cambios</a:t>
            </a:r>
            <a:r>
              <a:rPr sz="1800" dirty="0">
                <a:solidFill>
                  <a:srgbClr val="0F172A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Integrar cambios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Merge y Rebase con visualización (lo importante es la historia)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7724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Ambos </a:t>
            </a:r>
            <a:r>
              <a:rPr sz="1800" dirty="0" err="1">
                <a:solidFill>
                  <a:srgbClr val="0F172A"/>
                </a:solidFill>
              </a:rPr>
              <a:t>integran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cambios</a:t>
            </a:r>
            <a:r>
              <a:rPr sz="1800" dirty="0">
                <a:solidFill>
                  <a:srgbClr val="0F172A"/>
                </a:solidFill>
              </a:rPr>
              <a:t>, </a:t>
            </a:r>
            <a:r>
              <a:rPr sz="1800" dirty="0" err="1">
                <a:solidFill>
                  <a:srgbClr val="0F172A"/>
                </a:solidFill>
              </a:rPr>
              <a:t>pero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dejan</a:t>
            </a:r>
            <a:r>
              <a:rPr sz="1800" dirty="0">
                <a:solidFill>
                  <a:srgbClr val="0F172A"/>
                </a:solidFill>
              </a:rPr>
              <a:t> un </a:t>
            </a:r>
            <a:r>
              <a:rPr sz="1800" dirty="0" err="1">
                <a:solidFill>
                  <a:srgbClr val="0F172A"/>
                </a:solidFill>
              </a:rPr>
              <a:t>historial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diferente</a:t>
            </a:r>
            <a:endParaRPr sz="18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Merge: </a:t>
            </a:r>
            <a:r>
              <a:rPr sz="1800" dirty="0" err="1">
                <a:solidFill>
                  <a:srgbClr val="0F172A"/>
                </a:solidFill>
              </a:rPr>
              <a:t>conserva</a:t>
            </a:r>
            <a:r>
              <a:rPr sz="1800" dirty="0">
                <a:solidFill>
                  <a:srgbClr val="0F172A"/>
                </a:solidFill>
              </a:rPr>
              <a:t> la </a:t>
            </a:r>
            <a:r>
              <a:rPr sz="1800" dirty="0" err="1">
                <a:solidFill>
                  <a:srgbClr val="0F172A"/>
                </a:solidFill>
              </a:rPr>
              <a:t>historia</a:t>
            </a:r>
            <a:r>
              <a:rPr sz="1800" dirty="0">
                <a:solidFill>
                  <a:srgbClr val="0F172A"/>
                </a:solidFill>
              </a:rPr>
              <a:t> real y </a:t>
            </a:r>
            <a:r>
              <a:rPr sz="1800" dirty="0" err="1">
                <a:solidFill>
                  <a:srgbClr val="0F172A"/>
                </a:solidFill>
              </a:rPr>
              <a:t>suele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crear</a:t>
            </a:r>
            <a:r>
              <a:rPr sz="1800" dirty="0">
                <a:solidFill>
                  <a:srgbClr val="0F172A"/>
                </a:solidFill>
              </a:rPr>
              <a:t> commit de merge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Rebase: </a:t>
            </a:r>
            <a:r>
              <a:rPr sz="1800" dirty="0" err="1">
                <a:solidFill>
                  <a:srgbClr val="0F172A"/>
                </a:solidFill>
              </a:rPr>
              <a:t>reescribe</a:t>
            </a:r>
            <a:r>
              <a:rPr sz="1800" dirty="0">
                <a:solidFill>
                  <a:srgbClr val="0F172A"/>
                </a:solidFill>
              </a:rPr>
              <a:t> la </a:t>
            </a:r>
            <a:r>
              <a:rPr sz="1800" dirty="0" err="1">
                <a:solidFill>
                  <a:srgbClr val="0F172A"/>
                </a:solidFill>
              </a:rPr>
              <a:t>historia</a:t>
            </a:r>
            <a:r>
              <a:rPr sz="1800" dirty="0">
                <a:solidFill>
                  <a:srgbClr val="0F172A"/>
                </a:solidFill>
              </a:rPr>
              <a:t> para </a:t>
            </a:r>
            <a:r>
              <a:rPr sz="1800" dirty="0" err="1">
                <a:solidFill>
                  <a:srgbClr val="0F172A"/>
                </a:solidFill>
              </a:rPr>
              <a:t>que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quede</a:t>
            </a:r>
            <a:r>
              <a:rPr sz="1800" dirty="0">
                <a:solidFill>
                  <a:srgbClr val="0F172A"/>
                </a:solidFill>
              </a:rPr>
              <a:t> lineal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Regla: rebase solo </a:t>
            </a:r>
            <a:r>
              <a:rPr sz="1800" dirty="0" err="1">
                <a:solidFill>
                  <a:srgbClr val="0F172A"/>
                </a:solidFill>
              </a:rPr>
              <a:t>en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ramas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propias</a:t>
            </a:r>
            <a:r>
              <a:rPr sz="1800" dirty="0">
                <a:solidFill>
                  <a:srgbClr val="0F172A"/>
                </a:solidFill>
              </a:rPr>
              <a:t> (no </a:t>
            </a:r>
            <a:r>
              <a:rPr sz="1800" dirty="0" err="1">
                <a:solidFill>
                  <a:srgbClr val="0F172A"/>
                </a:solidFill>
              </a:rPr>
              <a:t>compartidas</a:t>
            </a:r>
            <a:r>
              <a:rPr sz="1800" dirty="0">
                <a:solidFill>
                  <a:srgbClr val="0F172A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Diagrama de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Se ve la bifurcación real y el punto de integración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pic>
        <p:nvPicPr>
          <p:cNvPr id="6" name="Picture 5" descr="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7498080" cy="6689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Diagrama de 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Mismo resultado funcional, historia reescrita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pic>
        <p:nvPicPr>
          <p:cNvPr id="6" name="Picture 5" descr="re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7498080" cy="9204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Flujo seguro recomendado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Para proyectos críticos: control, revisión y trazabilidad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616952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Nunca </a:t>
            </a:r>
            <a:r>
              <a:rPr sz="1800" dirty="0" err="1">
                <a:solidFill>
                  <a:srgbClr val="0F172A"/>
                </a:solidFill>
              </a:rPr>
              <a:t>trabajar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directamente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sobre</a:t>
            </a:r>
            <a:r>
              <a:rPr sz="1800" dirty="0">
                <a:solidFill>
                  <a:srgbClr val="0F172A"/>
                </a:solidFill>
              </a:rPr>
              <a:t> main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Cada </a:t>
            </a:r>
            <a:r>
              <a:rPr sz="1800" dirty="0" err="1">
                <a:solidFill>
                  <a:srgbClr val="0F172A"/>
                </a:solidFill>
              </a:rPr>
              <a:t>cambio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va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en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una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rama</a:t>
            </a:r>
            <a:r>
              <a:rPr sz="1800" dirty="0">
                <a:solidFill>
                  <a:srgbClr val="0F172A"/>
                </a:solidFill>
              </a:rPr>
              <a:t> feature/fix/refactor</a:t>
            </a:r>
          </a:p>
          <a:p>
            <a:pPr>
              <a:spcAft>
                <a:spcPts val="600"/>
              </a:spcAft>
            </a:pPr>
            <a:r>
              <a:rPr sz="1800" dirty="0" err="1">
                <a:solidFill>
                  <a:srgbClr val="0F172A"/>
                </a:solidFill>
              </a:rPr>
              <a:t>Integración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mediante</a:t>
            </a:r>
            <a:r>
              <a:rPr sz="1800" dirty="0">
                <a:solidFill>
                  <a:srgbClr val="0F172A"/>
                </a:solidFill>
              </a:rPr>
              <a:t> Pull Request (review + checks)</a:t>
            </a: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main </a:t>
            </a:r>
            <a:r>
              <a:rPr sz="1800" dirty="0" err="1">
                <a:solidFill>
                  <a:srgbClr val="0F172A"/>
                </a:solidFill>
              </a:rPr>
              <a:t>siempre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estable</a:t>
            </a:r>
            <a:r>
              <a:rPr sz="1800" dirty="0">
                <a:solidFill>
                  <a:srgbClr val="0F172A"/>
                </a:solidFill>
              </a:rPr>
              <a:t> (</a:t>
            </a:r>
            <a:r>
              <a:rPr sz="1800" dirty="0" err="1">
                <a:solidFill>
                  <a:srgbClr val="0F172A"/>
                </a:solidFill>
              </a:rPr>
              <a:t>producción</a:t>
            </a:r>
            <a:r>
              <a:rPr sz="1800" dirty="0">
                <a:solidFill>
                  <a:srgbClr val="0F172A"/>
                </a:solidFill>
              </a:rPr>
              <a:t> o </a:t>
            </a:r>
            <a:r>
              <a:rPr sz="1800" dirty="0" err="1">
                <a:solidFill>
                  <a:srgbClr val="0F172A"/>
                </a:solidFill>
              </a:rPr>
              <a:t>candidato</a:t>
            </a:r>
            <a:r>
              <a:rPr sz="1800" dirty="0">
                <a:solidFill>
                  <a:srgbClr val="0F172A"/>
                </a:solidFill>
              </a:rPr>
              <a:t> a </a:t>
            </a:r>
            <a:r>
              <a:rPr sz="1800" dirty="0" err="1">
                <a:solidFill>
                  <a:srgbClr val="0F172A"/>
                </a:solidFill>
              </a:rPr>
              <a:t>producción</a:t>
            </a:r>
            <a:r>
              <a:rPr sz="1800" dirty="0">
                <a:solidFill>
                  <a:srgbClr val="0F172A"/>
                </a:solidFill>
              </a:rPr>
              <a:t>)</a:t>
            </a:r>
            <a:endParaRPr lang="es-ES" sz="18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endParaRPr lang="es-ES" sz="18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0F172A"/>
                </a:solidFill>
              </a:rPr>
              <a:t>Por commandos:</a:t>
            </a:r>
          </a:p>
          <a:p>
            <a:pPr>
              <a:spcAft>
                <a:spcPts val="600"/>
              </a:spcAft>
            </a:pPr>
            <a:endParaRPr lang="en-GB" dirty="0">
              <a:solidFill>
                <a:srgbClr val="0F172A"/>
              </a:solidFill>
            </a:endParaRP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</a:t>
            </a:r>
            <a:r>
              <a:rPr lang="es-ES" dirty="0" err="1"/>
              <a:t>main</a:t>
            </a:r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pull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 err="1"/>
              <a:t>main</a:t>
            </a:r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-b </a:t>
            </a:r>
            <a:r>
              <a:rPr lang="es-ES" dirty="0" err="1"/>
              <a:t>feature</a:t>
            </a:r>
            <a:r>
              <a:rPr lang="es-ES" dirty="0"/>
              <a:t>-mi-tarea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 . &amp;&amp;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 -u </a:t>
            </a:r>
            <a:r>
              <a:rPr lang="es-ES" dirty="0" err="1"/>
              <a:t>origin</a:t>
            </a:r>
            <a:r>
              <a:rPr lang="es-ES" dirty="0"/>
              <a:t> </a:t>
            </a:r>
            <a:r>
              <a:rPr lang="es-ES" dirty="0" err="1"/>
              <a:t>feature</a:t>
            </a:r>
            <a:r>
              <a:rPr lang="es-ES" dirty="0"/>
              <a:t>-mi-tarea</a:t>
            </a:r>
          </a:p>
          <a:p>
            <a:pPr>
              <a:spcAft>
                <a:spcPts val="600"/>
              </a:spcAft>
            </a:pPr>
            <a:endParaRPr sz="1800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Cuándo usar cada 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Flujo seguro (recomendado): proyectos críticos, equipos grandes, producción/entrega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Pull Request a main: revisión, trazabilidad y checks automáticos (CI)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Flujo avanzado: equipos pequeños, alta confianza, features grandes, trabajo paralelo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Regla: cuanto más crítico el proyecto, más controles (PR, reviews, checks)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ivan gonzalez valles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3432" y="1810512"/>
            <a:ext cx="5888736" cy="4525963"/>
          </a:xfrm>
        </p:spPr>
        <p:txBody>
          <a:bodyPr/>
          <a:lstStyle/>
          <a:p>
            <a:r>
              <a:rPr dirty="0" err="1"/>
              <a:t>Equipos</a:t>
            </a:r>
            <a:r>
              <a:rPr dirty="0"/>
              <a:t> </a:t>
            </a:r>
            <a:r>
              <a:rPr dirty="0" err="1"/>
              <a:t>pequeños</a:t>
            </a:r>
            <a:endParaRPr dirty="0"/>
          </a:p>
          <a:p>
            <a:pPr lvl="1"/>
            <a:r>
              <a:rPr dirty="0"/>
              <a:t>Alta </a:t>
            </a:r>
            <a:r>
              <a:rPr dirty="0" err="1"/>
              <a:t>confianza</a:t>
            </a:r>
            <a:r>
              <a:rPr dirty="0"/>
              <a:t> entre </a:t>
            </a:r>
            <a:r>
              <a:rPr dirty="0" err="1"/>
              <a:t>compañeros</a:t>
            </a:r>
            <a:endParaRPr dirty="0"/>
          </a:p>
          <a:p>
            <a:pPr lvl="1"/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paralelo</a:t>
            </a:r>
            <a:endParaRPr dirty="0"/>
          </a:p>
          <a:p>
            <a:pPr lvl="1"/>
            <a:r>
              <a:rPr dirty="0"/>
              <a:t>Features </a:t>
            </a:r>
            <a:r>
              <a:rPr dirty="0" err="1"/>
              <a:t>grandes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D89C2A-968F-31CA-87E9-ADB80F042C69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DC2F296-0184-9BF1-C9BC-0641018FB44D}"/>
              </a:ext>
            </a:extLst>
          </p:cNvPr>
          <p:cNvSpPr txBox="1"/>
          <p:nvPr/>
        </p:nvSpPr>
        <p:spPr>
          <a:xfrm>
            <a:off x="548640" y="128016"/>
            <a:ext cx="40084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600" b="1" dirty="0">
                <a:solidFill>
                  <a:srgbClr val="FFFFFF"/>
                </a:solidFill>
              </a:rPr>
              <a:t>Cuándo usar flujo avanzado</a:t>
            </a:r>
            <a:endParaRPr sz="2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Flujo seguro con Pull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El estándar en equipos y empresas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pic>
        <p:nvPicPr>
          <p:cNvPr id="6" name="Picture 5" descr="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7498080" cy="25005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Por qué Pull Request a main (muy importante)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29260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Seguridad +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Review (4 ojos): alguien revisa antes de tocar main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Checks/CI: tests y validaciones automáticas antes de mergear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Trazabilidad: qué se cambió, por qué y quién lo aprobó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Protección de main: reduce errores y rollback en producción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Conversación técnica: comentarios y mejoras sobre el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ivan gonzalez valles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3160" y="1755648"/>
            <a:ext cx="4114800" cy="4525963"/>
          </a:xfrm>
        </p:spPr>
        <p:txBody>
          <a:bodyPr/>
          <a:lstStyle/>
          <a:p>
            <a:r>
              <a:rPr dirty="0" err="1"/>
              <a:t>Revisión</a:t>
            </a:r>
            <a:r>
              <a:rPr dirty="0"/>
              <a:t> de </a:t>
            </a:r>
            <a:r>
              <a:rPr dirty="0" err="1"/>
              <a:t>código</a:t>
            </a:r>
            <a:endParaRPr dirty="0"/>
          </a:p>
          <a:p>
            <a:pPr lvl="1"/>
            <a:r>
              <a:rPr dirty="0"/>
              <a:t>Aprobaciones</a:t>
            </a:r>
          </a:p>
          <a:p>
            <a:pPr lvl="1"/>
            <a:r>
              <a:rPr dirty="0" err="1"/>
              <a:t>Historial</a:t>
            </a:r>
            <a:r>
              <a:rPr dirty="0"/>
              <a:t> claro</a:t>
            </a:r>
          </a:p>
          <a:p>
            <a:pPr lvl="1"/>
            <a:r>
              <a:rPr dirty="0"/>
              <a:t>Merge </a:t>
            </a:r>
            <a:r>
              <a:rPr dirty="0" err="1"/>
              <a:t>controlado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46312D-8882-8FFD-3C4D-77D37C5270DC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FA54654-7EA5-40CD-F1A9-8903EA24A83B}"/>
              </a:ext>
            </a:extLst>
          </p:cNvPr>
          <p:cNvSpPr txBox="1"/>
          <p:nvPr/>
        </p:nvSpPr>
        <p:spPr>
          <a:xfrm>
            <a:off x="548640" y="128016"/>
            <a:ext cx="699941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600" b="1" dirty="0">
                <a:solidFill>
                  <a:srgbClr val="FFFFFF"/>
                </a:solidFill>
              </a:rPr>
              <a:t>Por qué es buena práctica el </a:t>
            </a:r>
            <a:r>
              <a:rPr lang="es-ES" sz="2600" b="1" dirty="0" err="1">
                <a:solidFill>
                  <a:srgbClr val="FFFFFF"/>
                </a:solidFill>
              </a:rPr>
              <a:t>pull</a:t>
            </a:r>
            <a:r>
              <a:rPr lang="es-ES" sz="2600" b="1" dirty="0">
                <a:solidFill>
                  <a:srgbClr val="FFFFFF"/>
                </a:solidFill>
              </a:rPr>
              <a:t> </a:t>
            </a:r>
            <a:r>
              <a:rPr lang="es-ES" sz="2600" b="1" dirty="0" err="1">
                <a:solidFill>
                  <a:srgbClr val="FFFFFF"/>
                </a:solidFill>
              </a:rPr>
              <a:t>request</a:t>
            </a:r>
            <a:r>
              <a:rPr lang="es-ES" sz="2600" b="1" dirty="0">
                <a:solidFill>
                  <a:srgbClr val="FFFFFF"/>
                </a:solidFill>
              </a:rPr>
              <a:t> a </a:t>
            </a:r>
            <a:r>
              <a:rPr lang="es-ES" sz="2600" b="1" dirty="0" err="1">
                <a:solidFill>
                  <a:srgbClr val="FFFFFF"/>
                </a:solidFill>
              </a:rPr>
              <a:t>main</a:t>
            </a:r>
            <a:endParaRPr sz="2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Flujo avanzado (colaboración directa)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Más ágil: integrar entre ramas sin depender de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8202168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dirty="0" err="1">
                <a:solidFill>
                  <a:srgbClr val="0F172A"/>
                </a:solidFill>
              </a:rPr>
              <a:t>Útil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cuando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necesitas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el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trabajo</a:t>
            </a:r>
            <a:r>
              <a:rPr sz="1800" dirty="0">
                <a:solidFill>
                  <a:srgbClr val="0F172A"/>
                </a:solidFill>
              </a:rPr>
              <a:t> de </a:t>
            </a:r>
            <a:r>
              <a:rPr sz="1800" dirty="0" err="1">
                <a:solidFill>
                  <a:srgbClr val="0F172A"/>
                </a:solidFill>
              </a:rPr>
              <a:t>otra</a:t>
            </a:r>
            <a:r>
              <a:rPr sz="1800" dirty="0">
                <a:solidFill>
                  <a:srgbClr val="0F172A"/>
                </a:solidFill>
              </a:rPr>
              <a:t> persona YA</a:t>
            </a:r>
          </a:p>
          <a:p>
            <a:pPr>
              <a:spcAft>
                <a:spcPts val="600"/>
              </a:spcAft>
            </a:pPr>
            <a:r>
              <a:rPr sz="1800" dirty="0" err="1">
                <a:solidFill>
                  <a:srgbClr val="0F172A"/>
                </a:solidFill>
              </a:rPr>
              <a:t>Te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creas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tu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rama</a:t>
            </a:r>
            <a:r>
              <a:rPr sz="1800" dirty="0">
                <a:solidFill>
                  <a:srgbClr val="0F172A"/>
                </a:solidFill>
              </a:rPr>
              <a:t> a </a:t>
            </a:r>
            <a:r>
              <a:rPr sz="1800" dirty="0" err="1">
                <a:solidFill>
                  <a:srgbClr val="0F172A"/>
                </a:solidFill>
              </a:rPr>
              <a:t>partir</a:t>
            </a:r>
            <a:r>
              <a:rPr sz="1800" dirty="0">
                <a:solidFill>
                  <a:srgbClr val="0F172A"/>
                </a:solidFill>
              </a:rPr>
              <a:t> de la </a:t>
            </a:r>
            <a:r>
              <a:rPr sz="1800" dirty="0" err="1">
                <a:solidFill>
                  <a:srgbClr val="0F172A"/>
                </a:solidFill>
              </a:rPr>
              <a:t>rama</a:t>
            </a:r>
            <a:r>
              <a:rPr sz="1800" dirty="0">
                <a:solidFill>
                  <a:srgbClr val="0F172A"/>
                </a:solidFill>
              </a:rPr>
              <a:t> remota del </a:t>
            </a:r>
            <a:r>
              <a:rPr sz="1800" dirty="0" err="1">
                <a:solidFill>
                  <a:srgbClr val="0F172A"/>
                </a:solidFill>
              </a:rPr>
              <a:t>compañero</a:t>
            </a:r>
            <a:endParaRPr sz="18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r>
              <a:rPr sz="1800" dirty="0">
                <a:solidFill>
                  <a:srgbClr val="0F172A"/>
                </a:solidFill>
              </a:rPr>
              <a:t>Luego </a:t>
            </a:r>
            <a:r>
              <a:rPr sz="1800" dirty="0" err="1">
                <a:solidFill>
                  <a:srgbClr val="0F172A"/>
                </a:solidFill>
              </a:rPr>
              <a:t>integras</a:t>
            </a:r>
            <a:r>
              <a:rPr sz="1800" dirty="0">
                <a:solidFill>
                  <a:srgbClr val="0F172A"/>
                </a:solidFill>
              </a:rPr>
              <a:t> (merge) </a:t>
            </a:r>
            <a:r>
              <a:rPr sz="1800" dirty="0" err="1">
                <a:solidFill>
                  <a:srgbClr val="0F172A"/>
                </a:solidFill>
              </a:rPr>
              <a:t>cuando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haya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nuevos</a:t>
            </a:r>
            <a:r>
              <a:rPr sz="1800" dirty="0">
                <a:solidFill>
                  <a:srgbClr val="0F172A"/>
                </a:solidFill>
              </a:rPr>
              <a:t> commits</a:t>
            </a:r>
          </a:p>
          <a:p>
            <a:pPr>
              <a:spcAft>
                <a:spcPts val="600"/>
              </a:spcAft>
            </a:pPr>
            <a:r>
              <a:rPr sz="1800" dirty="0" err="1">
                <a:solidFill>
                  <a:srgbClr val="0F172A"/>
                </a:solidFill>
              </a:rPr>
              <a:t>Requiere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criterio</a:t>
            </a:r>
            <a:r>
              <a:rPr sz="1800" dirty="0">
                <a:solidFill>
                  <a:srgbClr val="0F172A"/>
                </a:solidFill>
              </a:rPr>
              <a:t>: no es </a:t>
            </a:r>
            <a:r>
              <a:rPr sz="1800" dirty="0" err="1">
                <a:solidFill>
                  <a:srgbClr val="0F172A"/>
                </a:solidFill>
              </a:rPr>
              <a:t>el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flujo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por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defecto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en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proyectos</a:t>
            </a:r>
            <a:r>
              <a:rPr sz="1800" dirty="0">
                <a:solidFill>
                  <a:srgbClr val="0F172A"/>
                </a:solidFill>
              </a:rPr>
              <a:t> </a:t>
            </a:r>
            <a:r>
              <a:rPr sz="1800" dirty="0" err="1">
                <a:solidFill>
                  <a:srgbClr val="0F172A"/>
                </a:solidFill>
              </a:rPr>
              <a:t>críticos</a:t>
            </a:r>
            <a:endParaRPr lang="es-ES" sz="1800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endParaRPr lang="en-GB" dirty="0">
              <a:solidFill>
                <a:srgbClr val="0F172A"/>
              </a:solidFill>
            </a:endParaRP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0F172A"/>
                </a:solidFill>
              </a:rPr>
              <a:t>Por commandos: </a:t>
            </a:r>
          </a:p>
          <a:p>
            <a:pPr>
              <a:spcAft>
                <a:spcPts val="600"/>
              </a:spcAft>
            </a:pPr>
            <a:endParaRPr lang="en-GB" dirty="0">
              <a:solidFill>
                <a:srgbClr val="0F172A"/>
              </a:solidFill>
            </a:endParaRP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fetch</a:t>
            </a:r>
            <a:endParaRPr lang="es-ES" dirty="0"/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branch</a:t>
            </a:r>
            <a:r>
              <a:rPr lang="es-ES" dirty="0"/>
              <a:t> -r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 -b mi-rama </a:t>
            </a:r>
            <a:r>
              <a:rPr lang="es-ES" dirty="0" err="1"/>
              <a:t>origin</a:t>
            </a:r>
            <a:r>
              <a:rPr lang="es-ES" dirty="0"/>
              <a:t>/rama-compa</a:t>
            </a:r>
          </a:p>
          <a:p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merge</a:t>
            </a:r>
            <a:r>
              <a:rPr lang="es-ES" dirty="0"/>
              <a:t> </a:t>
            </a:r>
            <a:r>
              <a:rPr lang="es-ES" dirty="0" err="1"/>
              <a:t>origin</a:t>
            </a:r>
            <a:r>
              <a:rPr lang="es-ES" dirty="0"/>
              <a:t>/rama-compa</a:t>
            </a:r>
          </a:p>
          <a:p>
            <a:pPr>
              <a:spcAft>
                <a:spcPts val="600"/>
              </a:spcAft>
            </a:pPr>
            <a:endParaRPr sz="1800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Diagrama del flujo avanzado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fetch → ver ramas → crear tu rama → merge cuando quieras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pic>
        <p:nvPicPr>
          <p:cNvPr id="6" name="Picture 5" descr="adv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7498080" cy="23534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39376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600" b="1" dirty="0">
                <a:solidFill>
                  <a:srgbClr val="FFFFFF"/>
                </a:solidFill>
              </a:rPr>
              <a:t>E</a:t>
            </a:r>
            <a:r>
              <a:rPr sz="2600" b="1" dirty="0" err="1">
                <a:solidFill>
                  <a:srgbClr val="FFFFFF"/>
                </a:solidFill>
              </a:rPr>
              <a:t>rrores</a:t>
            </a:r>
            <a:r>
              <a:rPr sz="2600" b="1" dirty="0">
                <a:solidFill>
                  <a:srgbClr val="FFFFFF"/>
                </a:solidFill>
              </a:rPr>
              <a:t> </a:t>
            </a:r>
            <a:r>
              <a:rPr sz="2600" b="1" dirty="0" err="1">
                <a:solidFill>
                  <a:srgbClr val="FFFFFF"/>
                </a:solidFill>
              </a:rPr>
              <a:t>comunes</a:t>
            </a:r>
            <a:r>
              <a:rPr sz="2600" b="1" dirty="0">
                <a:solidFill>
                  <a:srgbClr val="FFFFFF"/>
                </a:solidFill>
              </a:rPr>
              <a:t> y </a:t>
            </a:r>
            <a:r>
              <a:rPr sz="2600" b="1" dirty="0" err="1">
                <a:solidFill>
                  <a:srgbClr val="FFFFFF"/>
                </a:solidFill>
              </a:rPr>
              <a:t>rescates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Lo que te salva cuando algo va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Flujo seguro y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Me equivoqué en el mensaje del último commit → git commit --amend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Quiero guardar trabajo temporal → git stash / git stash pop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Borré algo por error (local) → git reflog + reset (rescate)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Necesito deshacer en equipo sin romper historia → git revert &lt;commit&gt;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Reset --hard solo en escenarios controlados (y sabiendo lo que pierdes)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Nunca trabajar directamente sobre main</a:t>
            </a:r>
          </a:p>
          <a:p>
            <a:pPr lvl="1"/>
            <a:r>
              <a:t>Cada cambio se realiza en una rama</a:t>
            </a:r>
          </a:p>
          <a:p>
            <a:pPr lvl="1"/>
            <a:r>
              <a:t>Integración mediante Pull Request</a:t>
            </a:r>
          </a:p>
          <a:p>
            <a:pPr lvl="1"/>
            <a:r>
              <a:t>Máxima seguridad y trazabilidad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E918B3B-8B15-FC42-A2B7-8F76750AADC0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79D379A-A80E-614A-EE22-8C7C1D2A4BEA}"/>
              </a:ext>
            </a:extLst>
          </p:cNvPr>
          <p:cNvSpPr txBox="1"/>
          <p:nvPr/>
        </p:nvSpPr>
        <p:spPr>
          <a:xfrm>
            <a:off x="548640" y="128016"/>
            <a:ext cx="616264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600" b="1" dirty="0">
                <a:solidFill>
                  <a:srgbClr val="FFFFFF"/>
                </a:solidFill>
              </a:rPr>
              <a:t>QUE NO HACER NUNCA DURANTE EL FLUJO</a:t>
            </a:r>
            <a:endParaRPr sz="2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1697" y="1911096"/>
            <a:ext cx="5961888" cy="4525963"/>
          </a:xfrm>
        </p:spPr>
        <p:txBody>
          <a:bodyPr/>
          <a:lstStyle/>
          <a:p>
            <a:r>
              <a:t>Más rápido y flexible</a:t>
            </a:r>
          </a:p>
          <a:p>
            <a:pPr lvl="1"/>
            <a:r>
              <a:t>Menor dependencia de main</a:t>
            </a:r>
          </a:p>
          <a:p>
            <a:pPr lvl="1"/>
            <a:r>
              <a:t>Menos control</a:t>
            </a:r>
          </a:p>
          <a:p>
            <a:pPr lvl="1"/>
            <a:r>
              <a:t>No recomendado para producción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5D2525-18F3-AE5A-FE4B-6E528219C272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973DC905-AF9E-C3BB-AA4E-20E36309A568}"/>
              </a:ext>
            </a:extLst>
          </p:cNvPr>
          <p:cNvSpPr txBox="1"/>
          <p:nvPr/>
        </p:nvSpPr>
        <p:spPr>
          <a:xfrm>
            <a:off x="457200" y="114300"/>
            <a:ext cx="264899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600" b="1" dirty="0">
                <a:solidFill>
                  <a:srgbClr val="FFFFFF"/>
                </a:solidFill>
              </a:rPr>
              <a:t>Ventajas y riesgos</a:t>
            </a:r>
            <a:endParaRPr sz="2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Qué NO hacer nunca (reglas rápidas)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No trabajar directamente en main (salvo hotfix con protocolo)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No hacer rebase en ramas compartidas (reescribe historia ajena)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No usar reset --hard en equipo (solo en escenarios controlados y local)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No forzar pushes a main (evita romper el historial)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No mezclar muchas cosas en un commit: 1 idea = 1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Masterclass Git · ivan gonzalez valles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La regla de 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475569"/>
                </a:solidFill>
              </a:rPr>
              <a:t>Masterclass Git · </a:t>
            </a:r>
            <a:r>
              <a:rPr sz="1000" dirty="0" err="1">
                <a:solidFill>
                  <a:srgbClr val="475569"/>
                </a:solidFill>
              </a:rPr>
              <a:t>Flujo</a:t>
            </a:r>
            <a:r>
              <a:rPr sz="1000" dirty="0">
                <a:solidFill>
                  <a:srgbClr val="475569"/>
                </a:solidFill>
              </a:rPr>
              <a:t> </a:t>
            </a:r>
            <a:r>
              <a:rPr sz="1000" dirty="0" err="1">
                <a:solidFill>
                  <a:srgbClr val="475569"/>
                </a:solidFill>
              </a:rPr>
              <a:t>seguro</a:t>
            </a:r>
            <a:r>
              <a:rPr sz="1000" dirty="0">
                <a:solidFill>
                  <a:srgbClr val="475569"/>
                </a:solidFill>
              </a:rPr>
              <a:t> y </a:t>
            </a:r>
            <a:r>
              <a:rPr sz="1000" dirty="0" err="1">
                <a:solidFill>
                  <a:srgbClr val="475569"/>
                </a:solidFill>
              </a:rPr>
              <a:t>avanzado</a:t>
            </a:r>
            <a:endParaRPr sz="1000" dirty="0">
              <a:solidFill>
                <a:srgbClr val="47556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Git no es memorizar comandos: es entender consecuencias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Merge conserva historia; rebase la reescribe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Cuanto más crítico el proyecto, más controles (PR, reviews, checks)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</a:rPr>
              <a:t>Preguntas y casos reales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1098</Words>
  <Application>Microsoft Office PowerPoint</Application>
  <PresentationFormat>Presentación en pantalla (4:3)</PresentationFormat>
  <Paragraphs>150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MASTERCLASS DE GIT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 gonzalez valles</cp:lastModifiedBy>
  <cp:revision>8</cp:revision>
  <dcterms:created xsi:type="dcterms:W3CDTF">2013-01-27T09:14:16Z</dcterms:created>
  <dcterms:modified xsi:type="dcterms:W3CDTF">2025-12-18T21:15:20Z</dcterms:modified>
  <cp:category/>
</cp:coreProperties>
</file>